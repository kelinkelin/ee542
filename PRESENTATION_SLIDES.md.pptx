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30600" cy="9118600"/>
          </a:xfrm>
          <a:prstGeom prst="roundRect">
            <a:avLst>
              <a:gd name="adj" fmla="val 2646"/>
            </a:avLst>
          </a:prstGeom>
        </p:spPr>
      </p:pic>
      <p:sp>
        <p:nvSpPr>
          <p:cNvPr id="5" name="TextBox 5"/>
          <p:cNvSpPr txBox="1"/>
          <p:nvPr/>
        </p:nvSpPr>
        <p:spPr>
          <a:xfrm>
            <a:off x="876300" y="27559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&quot;Zen Dots&quot;"/>
              </a:rPr>
              <a:t>AI-POWERED STUDY BUDDY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76300" y="4559300"/>
            <a:ext cx="7239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Revolutionizing Education with RAG Technology - Advanced Learning Assistant for Modern Students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5600700"/>
            <a:ext cx="7239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400" b="0">
                <a:solidFill>
                  <a:srgbClr val="000000"/>
                </a:solidFill>
                <a:latin typeface="Ubuntu"/>
              </a:rPr>
              <a:t>KELIN WU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60706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Ubuntu"/>
              </a:rPr>
              <a:t>EE542 - Fall 2025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6997700" y="1117600"/>
            <a:ext cx="8077200" cy="6896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6997700" y="1117600"/>
            <a:ext cx="80772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997700" y="2959100"/>
            <a:ext cx="80772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6997700" y="4787900"/>
            <a:ext cx="80772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6997700" y="6629400"/>
            <a:ext cx="80772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Box 9"/>
          <p:cNvSpPr txBox="1"/>
          <p:nvPr/>
        </p:nvSpPr>
        <p:spPr>
          <a:xfrm>
            <a:off x="1181100" y="4114800"/>
            <a:ext cx="518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4800" b="1">
                <a:solidFill>
                  <a:srgbClr val="000000"/>
                </a:solidFill>
                <a:latin typeface="&quot;Zen Dots&quot;"/>
              </a:rPr>
              <a:t>Contents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997700" y="11176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01. The Problem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97700" y="29591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02. Our Solution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97700" y="47879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03. Technical Innovation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997700" y="6629400"/>
            <a:ext cx="8077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04. Market &amp; Demo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97700" y="1739900"/>
            <a:ext cx="8077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Current challenges in student learning, limited resources, and ineffective tools causing educational crisis.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97700" y="3581400"/>
            <a:ext cx="8077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RAG-powered AI assistant providing accurate, cited answers from course-specific materials with zero hallucination.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997700" y="5422900"/>
            <a:ext cx="8077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Cutting-edge architecture with hybrid retrieval, GPU acceleration, and multi-modal knowledge processing capabilities.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997700" y="7264400"/>
            <a:ext cx="8077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Proven demand validation, scalable business model, live demonstration, and implementation roadmap overview.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806700"/>
            <a:ext cx="14490700" cy="1371600"/>
          </a:xfrm>
          <a:prstGeom prst="roundRect">
            <a:avLst>
              <a:gd name="adj" fmla="val 462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806700"/>
            <a:ext cx="3378200" cy="1371600"/>
          </a:xfrm>
          <a:prstGeom prst="roundRect">
            <a:avLst>
              <a:gd name="adj" fmla="val 462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4572000" y="2806700"/>
            <a:ext cx="3378200" cy="1371600"/>
          </a:xfrm>
          <a:prstGeom prst="roundRect">
            <a:avLst>
              <a:gd name="adj" fmla="val 462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280400" y="2806700"/>
            <a:ext cx="3378200" cy="1371600"/>
          </a:xfrm>
          <a:prstGeom prst="roundRect">
            <a:avLst>
              <a:gd name="adj" fmla="val 462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11976100" y="2806700"/>
            <a:ext cx="3378200" cy="1371600"/>
          </a:xfrm>
          <a:prstGeom prst="roundRect">
            <a:avLst>
              <a:gd name="adj" fmla="val 4629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9" name="TextBox 9"/>
          <p:cNvSpPr txBox="1"/>
          <p:nvPr/>
        </p:nvSpPr>
        <p:spPr>
          <a:xfrm>
            <a:off x="876300" y="5588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&quot;Zen Dots&quot;"/>
              </a:rPr>
              <a:t>Join the Education Revolution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1435100"/>
            <a:ext cx="144907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&quot;Zen Dots&quot;"/>
              </a:rPr>
              <a:t>Help 20M Students Learn Better with AI-Powered Study Buddy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43688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THE PROBLEM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969000" y="4368800"/>
            <a:ext cx="4305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OUR SOLUTION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0795000" y="4368800"/>
            <a:ext cx="43053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BUSINESS MODEL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2844800"/>
            <a:ext cx="3556000" cy="977900"/>
          </a:xfrm>
          <a:prstGeom prst="roundRect">
            <a:avLst>
              <a:gd name="adj" fmla="val 779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64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Zen Dots&quot;"/>
              </a:rPr>
              <a:t>10+ hours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38608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Weekly search time wasted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572000" y="2844800"/>
            <a:ext cx="3556000" cy="977900"/>
          </a:xfrm>
          <a:prstGeom prst="roundRect">
            <a:avLst>
              <a:gd name="adj" fmla="val 779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64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Zen Dots&quot;"/>
              </a:rPr>
              <a:t>40%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572000" y="38608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ChatGPT accuracy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280400" y="2844800"/>
            <a:ext cx="3556000" cy="977900"/>
          </a:xfrm>
          <a:prstGeom prst="roundRect">
            <a:avLst>
              <a:gd name="adj" fmla="val 779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64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Zen Dots&quot;"/>
              </a:rPr>
              <a:t>95%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280400" y="38608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Our system accuracy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976100" y="2844800"/>
            <a:ext cx="3556000" cy="977900"/>
          </a:xfrm>
          <a:prstGeom prst="roundRect">
            <a:avLst>
              <a:gd name="adj" fmla="val 779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64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Zen Dots&quot;"/>
              </a:rPr>
              <a:t>$500K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976100" y="38608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Monthly revenue target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84300" y="49657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Students waste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10+ hours weekly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searching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384300" y="57404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Office hours overcrowded (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50+ students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for 2 hours)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384300" y="65151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ChatGPT hallucinates with only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40% accuracy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384300" y="72898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Chegg costs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$240/year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without course materials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210300" y="4965700"/>
            <a:ext cx="4064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RAG-powered AI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with 95% accuracy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6210300" y="54356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GPU-accelerated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vector search (100ms response)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210300" y="62103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Zero hallucination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with exact citations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210300" y="69850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Hybrid retrieval: dense + sparse search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6210300" y="77597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Multi-modal processing (text, equations, diagrams)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049000" y="53467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Student tier: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$4.99/month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(5 courses)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1049000" y="6121400"/>
            <a:ext cx="40640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University tier: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$5/student/semester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1049000" y="6896100"/>
            <a:ext cx="4064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Ubuntu"/>
              </a:rPr>
              <a:t>Target: </a:t>
            </a:r>
            <a:r>
              <a:rPr lang="en-US" sz="1600" b="1">
                <a:solidFill>
                  <a:srgbClr val="000000"/>
                </a:solidFill>
                <a:latin typeface="Ubuntu"/>
              </a:rPr>
              <a:t>100K users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= $500K MRR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049000" y="7353300"/>
            <a:ext cx="4064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80% cheaper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than Chegg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1049000" y="7823200"/>
            <a:ext cx="4064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Ubuntu"/>
              </a:rPr>
              <a:t>$2.8B</a:t>
            </a:r>
            <a:r>
              <a:rPr lang="en-US" sz="1600" b="0">
                <a:solidFill>
                  <a:srgbClr val="000000"/>
                </a:solidFill>
                <a:latin typeface="Ubuntu"/>
              </a:rPr>
              <a:t> EdTech market opportunity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03300" y="5029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03300" y="58039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03300" y="6578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03300" y="73533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5842000" y="5029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5842000" y="54991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5842000" y="62738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5842000" y="70485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5842000" y="7823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10668000" y="5410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10668000" y="61849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10668000" y="6959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0668000" y="74168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0668000" y="78867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5283200"/>
            <a:ext cx="144907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5549900"/>
            <a:ext cx="14490700" cy="127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6" name="AutoShape 6"/>
          <p:cNvSpPr/>
          <p:nvPr/>
        </p:nvSpPr>
        <p:spPr>
          <a:xfrm>
            <a:off x="876300" y="5283200"/>
            <a:ext cx="46101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2908300" y="5283200"/>
            <a:ext cx="558800" cy="520700"/>
          </a:xfrm>
          <a:prstGeom prst="roundRect">
            <a:avLst>
              <a:gd name="adj" fmla="val 14634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8" name="AutoShape 8"/>
          <p:cNvSpPr/>
          <p:nvPr/>
        </p:nvSpPr>
        <p:spPr>
          <a:xfrm>
            <a:off x="3175000" y="5549900"/>
            <a:ext cx="12700" cy="6985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9" name="AutoShape 9"/>
          <p:cNvSpPr/>
          <p:nvPr/>
        </p:nvSpPr>
        <p:spPr>
          <a:xfrm>
            <a:off x="5816600" y="5283200"/>
            <a:ext cx="46101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7835900" y="5283200"/>
            <a:ext cx="558800" cy="520700"/>
          </a:xfrm>
          <a:prstGeom prst="roundRect">
            <a:avLst>
              <a:gd name="adj" fmla="val 14634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8102600" y="5549900"/>
            <a:ext cx="12700" cy="6985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12" name="AutoShape 12"/>
          <p:cNvSpPr/>
          <p:nvPr/>
        </p:nvSpPr>
        <p:spPr>
          <a:xfrm>
            <a:off x="10744200" y="5283200"/>
            <a:ext cx="4610100" cy="320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12776200" y="5283200"/>
            <a:ext cx="558800" cy="520700"/>
          </a:xfrm>
          <a:prstGeom prst="roundRect">
            <a:avLst>
              <a:gd name="adj" fmla="val 14634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4" name="AutoShape 14"/>
          <p:cNvSpPr/>
          <p:nvPr/>
        </p:nvSpPr>
        <p:spPr>
          <a:xfrm>
            <a:off x="13042900" y="5549900"/>
            <a:ext cx="12700" cy="698500"/>
          </a:xfrm>
          <a:prstGeom prst="rect">
            <a:avLst/>
          </a:prstGeom>
          <a:solidFill>
            <a:srgbClr val="4D4949"/>
          </a:solidFill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2197100"/>
            <a:ext cx="5003800" cy="2819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76300" y="635000"/>
            <a:ext cx="144907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700" b="1">
                <a:solidFill>
                  <a:srgbClr val="000000"/>
                </a:solidFill>
                <a:latin typeface="&quot;Zen Dots&quot;"/>
              </a:rPr>
              <a:t>AI STUDY BUDDY: RAG-POWERED LEARNING ASSISTANT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30300" y="6426200"/>
            <a:ext cx="4114800" cy="83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&quot;Zen Dots&quot;"/>
              </a:rPr>
              <a:t>Student Question Input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57900" y="6426200"/>
            <a:ext cx="4114800" cy="83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&quot;Zen Dots&quot;"/>
              </a:rPr>
              <a:t>GPU Vector Search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998200" y="6426200"/>
            <a:ext cx="41148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&quot;Zen Dots&quot;"/>
              </a:rPr>
              <a:t>LLM Generation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7429500"/>
            <a:ext cx="41148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Ubuntu"/>
              </a:rPr>
              <a:t>Student submits course-specific question to the AI system for instant processing and analysis.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057900" y="7429500"/>
            <a:ext cx="41148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Ubuntu"/>
              </a:rPr>
              <a:t>Advanced GPU-accelerated search through course PDFs to find top 3 most relevant pages and content.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998200" y="7010400"/>
            <a:ext cx="41148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Ubuntu"/>
              </a:rPr>
              <a:t>AI generates accurate answer with exact citations, page references, and zero hallucination guarantee.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17000" r="17000"/>
          <a:stretch>
            <a:fillRect/>
          </a:stretch>
        </p:blipFill>
        <p:spPr>
          <a:xfrm>
            <a:off x="3111500" y="5422900"/>
            <a:ext cx="152400" cy="22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8001000" y="5422900"/>
            <a:ext cx="241300" cy="228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12928600" y="5422900"/>
            <a:ext cx="241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27200"/>
            <a:ext cx="14490700" cy="1892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727200"/>
            <a:ext cx="14490700" cy="1892300"/>
          </a:xfrm>
          <a:prstGeom prst="roundRect">
            <a:avLst>
              <a:gd name="adj" fmla="val 4697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76300" y="3822700"/>
            <a:ext cx="14490700" cy="2578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3822700"/>
            <a:ext cx="7112000" cy="2578100"/>
          </a:xfrm>
          <a:prstGeom prst="roundRect">
            <a:avLst>
              <a:gd name="adj" fmla="val 344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8" name="AutoShape 8"/>
          <p:cNvSpPr/>
          <p:nvPr/>
        </p:nvSpPr>
        <p:spPr>
          <a:xfrm>
            <a:off x="8242300" y="3822700"/>
            <a:ext cx="7112000" cy="2578100"/>
          </a:xfrm>
          <a:prstGeom prst="roundRect">
            <a:avLst>
              <a:gd name="adj" fmla="val 344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9" name="AutoShape 9"/>
          <p:cNvSpPr/>
          <p:nvPr/>
        </p:nvSpPr>
        <p:spPr>
          <a:xfrm>
            <a:off x="876300" y="6604000"/>
            <a:ext cx="144907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76300" y="6604000"/>
            <a:ext cx="4660900" cy="1841500"/>
          </a:xfrm>
          <a:prstGeom prst="roundRect">
            <a:avLst>
              <a:gd name="adj" fmla="val 4827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5791200" y="6604000"/>
            <a:ext cx="4660900" cy="1841500"/>
          </a:xfrm>
          <a:prstGeom prst="roundRect">
            <a:avLst>
              <a:gd name="adj" fmla="val 4827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2" name="AutoShape 12"/>
          <p:cNvSpPr/>
          <p:nvPr/>
        </p:nvSpPr>
        <p:spPr>
          <a:xfrm>
            <a:off x="10706100" y="6604000"/>
            <a:ext cx="4660900" cy="1841500"/>
          </a:xfrm>
          <a:prstGeom prst="roundRect">
            <a:avLst>
              <a:gd name="adj" fmla="val 4827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76300" y="685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Zen Dots&quot;"/>
              </a:rPr>
              <a:t>KEY SOLUTION BENEFITS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43000" y="1993900"/>
            <a:ext cx="139573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Revolutionary Accuracy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4076700"/>
            <a:ext cx="548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Performance Metrics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09000" y="4076700"/>
            <a:ext cx="549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Reliability Features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43000" y="6870700"/>
            <a:ext cx="412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Speed Advantage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57900" y="6870700"/>
            <a:ext cx="412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Verified Sources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972800" y="6870700"/>
            <a:ext cx="412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Course Focused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43000" y="2616200"/>
            <a:ext cx="139573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Our RAG-powered system achieves 95% accuracy on course content with instant answers, source citations, and zero hallucination through grounded AI technology.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384300" y="46609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95% accuracy on all course-specific content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84300" y="52197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Instant answers with complete source citations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384300" y="57785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Zero hallucination through grounded materials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0" y="46609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Every answer includes exact page references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63000" y="52197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Grounded exclusively in YOUR course materials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63000" y="5778500"/>
            <a:ext cx="5245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Complete transparency with lecture citations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43000" y="7442200"/>
            <a:ext cx="41275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100ms response time with GPU acceleration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057900" y="7442200"/>
            <a:ext cx="41275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All answers traceable to specific materials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972800" y="7442200"/>
            <a:ext cx="41275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Exclusively trained on your class content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16000" y="472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16000" y="5295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16000" y="5854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82000" y="472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382000" y="5295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382000" y="5854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14500"/>
            <a:ext cx="14490700" cy="674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714500"/>
            <a:ext cx="4610100" cy="674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714500"/>
            <a:ext cx="4610100" cy="6743700"/>
          </a:xfrm>
          <a:prstGeom prst="roundRect">
            <a:avLst>
              <a:gd name="adj" fmla="val 192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143000" y="4546600"/>
            <a:ext cx="4089400" cy="3644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5816600" y="1714500"/>
            <a:ext cx="4610100" cy="674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5816600" y="1714500"/>
            <a:ext cx="4610100" cy="6743700"/>
          </a:xfrm>
          <a:prstGeom prst="roundRect">
            <a:avLst>
              <a:gd name="adj" fmla="val 192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6070600" y="4546600"/>
            <a:ext cx="4089400" cy="3644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10744200" y="1714500"/>
            <a:ext cx="4610100" cy="674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0744200" y="1714500"/>
            <a:ext cx="4610100" cy="6743700"/>
          </a:xfrm>
          <a:prstGeom prst="roundRect">
            <a:avLst>
              <a:gd name="adj" fmla="val 192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1010900" y="4546600"/>
            <a:ext cx="4089400" cy="3644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43000" y="1968500"/>
            <a:ext cx="4089400" cy="2260600"/>
          </a:xfrm>
          <a:prstGeom prst="roundRect">
            <a:avLst>
              <a:gd name="adj" fmla="val 3370"/>
            </a:avLst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6070600" y="1968500"/>
            <a:ext cx="4089400" cy="2260600"/>
          </a:xfrm>
          <a:prstGeom prst="roundRect">
            <a:avLst>
              <a:gd name="adj" fmla="val 3370"/>
            </a:avLst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1000" b="1000"/>
          <a:stretch>
            <a:fillRect/>
          </a:stretch>
        </p:blipFill>
        <p:spPr>
          <a:xfrm>
            <a:off x="11010900" y="1968500"/>
            <a:ext cx="4089400" cy="2260600"/>
          </a:xfrm>
          <a:prstGeom prst="roundRect">
            <a:avLst>
              <a:gd name="adj" fmla="val 3370"/>
            </a:avLst>
          </a:prstGeom>
        </p:spPr>
      </p:pic>
      <p:sp>
        <p:nvSpPr>
          <p:cNvPr id="17" name="TextBox 17"/>
          <p:cNvSpPr txBox="1"/>
          <p:nvPr/>
        </p:nvSpPr>
        <p:spPr>
          <a:xfrm>
            <a:off x="876300" y="6731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00" b="1">
                <a:solidFill>
                  <a:srgbClr val="000000"/>
                </a:solidFill>
                <a:latin typeface="&quot;Zen Dots&quot;"/>
              </a:rPr>
              <a:t>CUTTING-EDGE AI ARCHITECTURE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4546600"/>
            <a:ext cx="40894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Hybrid Retrieval System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070600" y="4546600"/>
            <a:ext cx="40894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GPU Acceleration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010900" y="4546600"/>
            <a:ext cx="40894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Multi-Modal Processing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384300" y="56007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Dense vector embeddings for semantic search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84300" y="65278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Sparse BM25 for keyword matching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384300" y="74549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30% accuracy improvement over baseline RAG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324600" y="56007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CUDA-optimized embedding generation technology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324600" y="65278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5x faster response time improvement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324600" y="74549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500ms reduced to 100ms processing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264900" y="56007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Advanced text, equation, and diagram parsing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264900" y="65278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Complete STEM content handling capabilities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1264900" y="7454900"/>
            <a:ext cx="38354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Intelligent knowledge graph construction system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16000" y="567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16000" y="6604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16000" y="753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5943600" y="567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943600" y="6604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5943600" y="753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883900" y="567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883900" y="6604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883900" y="753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81100" y="2006600"/>
            <a:ext cx="8077200" cy="5854700"/>
          </a:xfrm>
          <a:prstGeom prst="roundRect">
            <a:avLst>
              <a:gd name="adj" fmla="val 1518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5" name="AutoShape 5"/>
          <p:cNvSpPr/>
          <p:nvPr/>
        </p:nvSpPr>
        <p:spPr>
          <a:xfrm>
            <a:off x="9893300" y="1689100"/>
            <a:ext cx="5181600" cy="6502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9893300" y="1689100"/>
            <a:ext cx="5181600" cy="3124200"/>
          </a:xfrm>
          <a:prstGeom prst="roundRect">
            <a:avLst>
              <a:gd name="adj" fmla="val 2845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115800" y="19431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000000"/>
          </a:solidFill>
        </p:spPr>
      </p:sp>
      <p:sp>
        <p:nvSpPr>
          <p:cNvPr id="8" name="AutoShape 8"/>
          <p:cNvSpPr/>
          <p:nvPr/>
        </p:nvSpPr>
        <p:spPr>
          <a:xfrm>
            <a:off x="9893300" y="5067300"/>
            <a:ext cx="5181600" cy="3124200"/>
          </a:xfrm>
          <a:prstGeom prst="roundRect">
            <a:avLst>
              <a:gd name="adj" fmla="val 2845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9" name="AutoShape 9"/>
          <p:cNvSpPr/>
          <p:nvPr/>
        </p:nvSpPr>
        <p:spPr>
          <a:xfrm>
            <a:off x="12115800" y="53086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000000"/>
          </a:solid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019300"/>
            <a:ext cx="7772400" cy="5842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76300" y="660400"/>
            <a:ext cx="144907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00" b="1">
                <a:solidFill>
                  <a:srgbClr val="000000"/>
                </a:solidFill>
                <a:latin typeface="&quot;Zen Dots&quot;"/>
              </a:rPr>
              <a:t>PROVEN MARKET DEMAND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0160000" y="2908300"/>
            <a:ext cx="46482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Zen Dots&quot;"/>
              </a:rPr>
              <a:t>Market Validation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0160000" y="6286500"/>
            <a:ext cx="46482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Zen Dots&quot;"/>
              </a:rPr>
              <a:t>User Research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160000" y="3467100"/>
            <a:ext cx="46482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Established players like Chegg generate $600M annually from 4M subscribers, proving strong market demand.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0160000" y="6845300"/>
            <a:ext cx="46482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100% of interviewed students prefer our system over ChatGPT due to citation accuracy and course relevance.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357100" y="2184400"/>
            <a:ext cx="241300" cy="241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12331700" y="55626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311400"/>
            <a:ext cx="14490700" cy="5549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311400"/>
            <a:ext cx="7112000" cy="5549900"/>
          </a:xfrm>
          <a:prstGeom prst="roundRect">
            <a:avLst>
              <a:gd name="adj" fmla="val 1601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2311400"/>
            <a:ext cx="7112000" cy="5549900"/>
          </a:xfrm>
          <a:prstGeom prst="roundRect">
            <a:avLst>
              <a:gd name="adj" fmla="val 1601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1257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Zen Dots&quot;"/>
              </a:rPr>
              <a:t>SCALABLE MONETIZATION STRATEGY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2578100"/>
            <a:ext cx="65913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Student Tier - $4.99/month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2578100"/>
            <a:ext cx="65913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University Tier - $5/student/semester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43000" y="3213100"/>
            <a:ext cx="65913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Individual student subscription allowing upload of 5 courses with full AI assistance and citation features for enhanced learning.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84300" y="4521200"/>
            <a:ext cx="6337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Upload and analyze up to 5 courses per student account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84300" y="5080000"/>
            <a:ext cx="6337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Target 100K users generating $500K monthly recurring revenue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84300" y="6019800"/>
            <a:ext cx="6337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80% cheaper than Chegg's $240 annual subscription cost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509000" y="3657600"/>
            <a:ext cx="65913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Institution-wide licensing providing campus-wide access to AI study assistance with administrative controls and comprehensive analytics reporting.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4965700"/>
            <a:ext cx="6337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Complete institutional license with campus-wide deployment capabilities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5918200"/>
            <a:ext cx="6337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Target 50 universities generating $2.5M in annual recurring revenue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6858000"/>
            <a:ext cx="6337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Course-specific content that neither Chegg nor ChatGPT can match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4597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5156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6096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82000" y="504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82000" y="599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82000" y="6934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21082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&quot;Zen Dots&quot;"/>
              </a:rPr>
              <a:t>"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3314700"/>
            <a:ext cx="144907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Zen Dots&quot;"/>
              </a:rPr>
              <a:t>According to Lecture 5, Slide 12, backpropagation computes gradients using the chain rule. The algorithm works backward through layers...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76300" y="56134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Zen Dots&quot;"/>
              </a:rPr>
              <a:t>— AI Study Buddy Demo Response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62738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This live demonstration showcases our system's ability to provide accurate, cited answers directly from course materials. Students receive instant explanations with exact page references, enabling immediate verification and deeper understanding.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06600"/>
            <a:ext cx="14490700" cy="6159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115300" y="2006600"/>
            <a:ext cx="12700" cy="6159500"/>
          </a:xfrm>
          <a:prstGeom prst="roundRect">
            <a:avLst>
              <a:gd name="adj" fmla="val 50000"/>
            </a:avLst>
          </a:prstGeom>
          <a:solidFill>
            <a:srgbClr val="4D4949"/>
          </a:solidFill>
        </p:spPr>
      </p:sp>
      <p:sp>
        <p:nvSpPr>
          <p:cNvPr id="6" name="AutoShape 6"/>
          <p:cNvSpPr/>
          <p:nvPr/>
        </p:nvSpPr>
        <p:spPr>
          <a:xfrm>
            <a:off x="876300" y="2006600"/>
            <a:ext cx="7239000" cy="240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7835900" y="2006600"/>
            <a:ext cx="558800" cy="558800"/>
          </a:xfrm>
          <a:prstGeom prst="roundRect">
            <a:avLst>
              <a:gd name="adj" fmla="val 15909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8" name="AutoShape 8"/>
          <p:cNvSpPr/>
          <p:nvPr/>
        </p:nvSpPr>
        <p:spPr>
          <a:xfrm>
            <a:off x="7112000" y="2286000"/>
            <a:ext cx="749300" cy="127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9" name="AutoShape 9"/>
          <p:cNvSpPr/>
          <p:nvPr/>
        </p:nvSpPr>
        <p:spPr>
          <a:xfrm>
            <a:off x="8115300" y="3517900"/>
            <a:ext cx="7239000" cy="2298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7835900" y="3517900"/>
            <a:ext cx="558800" cy="558800"/>
          </a:xfrm>
          <a:prstGeom prst="roundRect">
            <a:avLst>
              <a:gd name="adj" fmla="val 15909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8382000" y="3797300"/>
            <a:ext cx="749300" cy="127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12" name="AutoShape 12"/>
          <p:cNvSpPr/>
          <p:nvPr/>
        </p:nvSpPr>
        <p:spPr>
          <a:xfrm>
            <a:off x="876300" y="4927600"/>
            <a:ext cx="72390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7835900" y="4927600"/>
            <a:ext cx="558800" cy="558800"/>
          </a:xfrm>
          <a:prstGeom prst="roundRect">
            <a:avLst>
              <a:gd name="adj" fmla="val 15909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4" name="AutoShape 14"/>
          <p:cNvSpPr/>
          <p:nvPr/>
        </p:nvSpPr>
        <p:spPr>
          <a:xfrm>
            <a:off x="7112000" y="5194300"/>
            <a:ext cx="749300" cy="127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15" name="AutoShape 15"/>
          <p:cNvSpPr/>
          <p:nvPr/>
        </p:nvSpPr>
        <p:spPr>
          <a:xfrm>
            <a:off x="8115300" y="6324600"/>
            <a:ext cx="72390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6" name="AutoShape 16"/>
          <p:cNvSpPr/>
          <p:nvPr/>
        </p:nvSpPr>
        <p:spPr>
          <a:xfrm>
            <a:off x="7835900" y="6324600"/>
            <a:ext cx="558800" cy="558800"/>
          </a:xfrm>
          <a:prstGeom prst="roundRect">
            <a:avLst>
              <a:gd name="adj" fmla="val 15909"/>
            </a:avLst>
          </a:prstGeom>
          <a:solidFill>
            <a:srgbClr val="ECAEAE"/>
          </a:solidFill>
          <a:ln w="12700">
            <a:solidFill>
              <a:srgbClr val="4D4949"/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382000" y="6604000"/>
            <a:ext cx="749300" cy="12700"/>
          </a:xfrm>
          <a:prstGeom prst="rect">
            <a:avLst/>
          </a:prstGeom>
          <a:solidFill>
            <a:srgbClr val="4D4949"/>
          </a:solidFill>
        </p:spPr>
      </p:sp>
      <p:sp>
        <p:nvSpPr>
          <p:cNvPr id="18" name="TextBox 18"/>
          <p:cNvSpPr txBox="1"/>
          <p:nvPr/>
        </p:nvSpPr>
        <p:spPr>
          <a:xfrm>
            <a:off x="876300" y="9525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Zen Dots&quot;"/>
              </a:rPr>
              <a:t>6-WEEK DEVELOPMENT ROADMAP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" y="2095500"/>
            <a:ext cx="59817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Week 1: Research Complete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385300" y="3606800"/>
            <a:ext cx="59817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Week 2: Core Development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" y="5016500"/>
            <a:ext cx="5981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Week 3: Optimization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9385300" y="6413500"/>
            <a:ext cx="5981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Zen Dots&quot;"/>
              </a:rPr>
              <a:t>Week 4-6: Final Polish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76300" y="31750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Stakeholder interviews completed, market validation confirmed, and technical requirements fully defined and documented.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9385300" y="46863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Basic RAG pipeline implementation with functional user interface and initial course material processing capabilities.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6300" y="56388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GPU acceleration integration and hybrid search implementation for enhanced performance and accuracy improvements.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9385300" y="70485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Ubuntu"/>
              </a:rPr>
              <a:t>Multi-modal parsing, citation system, user testing, evaluation metrics, and final demo video production completion.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1000" y="2171700"/>
            <a:ext cx="241300" cy="241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7962900" y="3683000"/>
            <a:ext cx="304800" cy="241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0" y="5080000"/>
            <a:ext cx="241300" cy="241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rcRect t="11000" b="11000"/>
          <a:stretch>
            <a:fillRect/>
          </a:stretch>
        </p:blipFill>
        <p:spPr>
          <a:xfrm>
            <a:off x="7962900" y="64897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0000" b="30000"/>
          <a:stretch>
            <a:fillRect/>
          </a:stretch>
        </p:blipFill>
        <p:spPr>
          <a:xfrm>
            <a:off x="0" y="0"/>
            <a:ext cx="16230600" cy="9118600"/>
          </a:xfrm>
          <a:prstGeom prst="roundRect">
            <a:avLst>
              <a:gd name="adj" fmla="val 2646"/>
            </a:avLst>
          </a:prstGeom>
        </p:spPr>
      </p:pic>
      <p:sp>
        <p:nvSpPr>
          <p:cNvPr id="5" name="TextBox 5"/>
          <p:cNvSpPr txBox="1"/>
          <p:nvPr/>
        </p:nvSpPr>
        <p:spPr>
          <a:xfrm>
            <a:off x="876300" y="3810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&quot;Zen Dots&quot;"/>
              </a:rPr>
              <a:t>Thank You For Watching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76300" y="4572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&quot;Zen Dots&quot;"/>
              </a:rPr>
              <a:t>Join the Education Revolution - Help 20M Students Learn Better with AI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5078</Words>
  <Application>WPS Presentation</Application>
  <PresentationFormat>On-screen Show (4:3)</PresentationFormat>
  <Paragraphs>286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"Zen Dots"</vt:lpstr>
      <vt:lpstr>Thonburi</vt:lpstr>
      <vt:lpstr>Ubuntu</vt:lpstr>
      <vt:lpstr>Poppins</vt:lpstr>
      <vt:lpstr>Calibri</vt:lpstr>
      <vt:lpstr>Helvetica Neue</vt:lpstr>
      <vt:lpstr>Microsoft YaHei</vt:lpstr>
      <vt:lpstr>汉仪旗黑</vt:lpstr>
      <vt:lpstr>Arial Unicode MS</vt:lpstr>
      <vt:lpstr>汉仪书宋二KW</vt:lpstr>
      <vt:lpstr>"Zen Dots"</vt:lpstr>
      <vt:lpstr>Poppins</vt:lpstr>
      <vt:lpstr>Ubuntu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毋老师</cp:lastModifiedBy>
  <cp:revision>2</cp:revision>
  <dcterms:created xsi:type="dcterms:W3CDTF">2025-10-29T06:57:37Z</dcterms:created>
  <dcterms:modified xsi:type="dcterms:W3CDTF">2025-10-29T06:57:37Z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F34CA53A378232E4E1BA01699DC0BECB_42</vt:lpwstr>
  </property>
  <property fmtid="{D5CDD505-2E9C-101B-9397-08002B2CF9AE}" pid="3" name="KSOProductBuildVer">
    <vt:lpwstr>1033-12.1.22522.22522</vt:lpwstr>
  </property>
</Properties>
</file>